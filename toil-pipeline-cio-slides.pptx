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what is it, and is it real? Do not explain mechanics - the demo does that.
Replace the [ N ] placeholders with the Control-M run numbers: incidents in the export window, offenders (distinct jobs) found, hours per month in scope (technical + business from ToilLens, normalised over the export window), Jiras created, and wall-clock time from CSV to backlog.
Say the scope out loud: one team, one category, one export window. A real number with a stated scope beats a projected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script (2-3 minutes, on the sanitised sample):
1. Run prep - pause on the category table for two seconds.
2. The picker opens. Show the greyed options briefly; it makes the "works on any laptop" point without saying it.
3. Offenders table: "it grouped 22 incidents into 3 jobs."
4. Evidence plan: let the DQL sit on screen for a beat. "One query per job, not per incident."
5. Drafts index, then open one Jira draft. "This is what a fixer picks up - what fails, how often, the error, the proposed fix, what it costs per month."
6. End on the Jira board with the tickets in backlog.
Narrate outcomes, not commands. Keep the terminal font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a projection, give one and label it as a projection: "if the Control-M rate holds across three teams, roughly N hours per month." The honest headline is that real cross-team numbers arrive at the end of the pilot, from the same pipeline that produced the tickets - not from a spreadsheet estimate.
Pilot candidates: teams with the highest Control-M / MFT / restart volume in ServiceNow, since the default rule pack already fits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2A1B34"/>
                </a:solidFill>
                <a:latin typeface="Calibri" pitchFamily="34" charset="0"/>
                <a:ea typeface="Calibri" pitchFamily="34" charset="-122"/>
                <a:cs typeface="Calibri" pitchFamily="34" charset="-120"/>
              </a:rPr>
              <a:t>Incident toil, measured and turned into a backlog</a:t>
            </a:r>
            <a:endParaRPr lang="en-US" sz="2800" dirty="0"/>
          </a:p>
        </p:txBody>
      </p:sp>
      <p:sp>
        <p:nvSpPr>
          <p:cNvPr id="3" name="Text 1"/>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One pipeline from a ServiceNow export to a reviewed Jira backlog. No infrastructure, no vendor spend, data stays on the laptop.</a:t>
            </a:r>
            <a:endParaRPr lang="en-US" sz="1200" dirty="0"/>
          </a:p>
        </p:txBody>
      </p:sp>
      <p:sp>
        <p:nvSpPr>
          <p:cNvPr id="4" name="Shape 2"/>
          <p:cNvSpPr/>
          <p:nvPr/>
        </p:nvSpPr>
        <p:spPr>
          <a:xfrm>
            <a:off x="466344" y="1371600"/>
            <a:ext cx="1481328" cy="1143000"/>
          </a:xfrm>
          <a:prstGeom prst="roundRect">
            <a:avLst>
              <a:gd name="adj" fmla="val 6400"/>
            </a:avLst>
          </a:prstGeom>
          <a:solidFill>
            <a:srgbClr val="F4EFF5"/>
          </a:solidFill>
          <a:ln w="12700">
            <a:solidFill>
              <a:srgbClr val="F4EFF5"/>
            </a:solidFill>
            <a:prstDash val="solid"/>
          </a:ln>
        </p:spPr>
      </p:sp>
      <p:sp>
        <p:nvSpPr>
          <p:cNvPr id="5" name="Shape 3"/>
          <p:cNvSpPr/>
          <p:nvPr/>
        </p:nvSpPr>
        <p:spPr>
          <a:xfrm>
            <a:off x="1024128" y="1490472"/>
            <a:ext cx="365760" cy="365760"/>
          </a:xfrm>
          <a:prstGeom prst="ellipse">
            <a:avLst/>
          </a:prstGeom>
          <a:solidFill>
            <a:srgbClr val="5C2D5E"/>
          </a:solidFill>
          <a:ln w="12700">
            <a:solidFill>
              <a:srgbClr val="5C2D5E"/>
            </a:solidFill>
            <a:prstDash val="solid"/>
          </a:ln>
        </p:spPr>
      </p:sp>
      <p:pic>
        <p:nvPicPr>
          <p:cNvPr id="6" name="Image 0" descr="preencoded.png">    </p:cNvPr>
          <p:cNvPicPr>
            <a:picLocks noChangeAspect="1"/>
          </p:cNvPicPr>
          <p:nvPr/>
        </p:nvPicPr>
        <p:blipFill>
          <a:blip r:embed="rId1"/>
          <a:stretch>
            <a:fillRect/>
          </a:stretch>
        </p:blipFill>
        <p:spPr>
          <a:xfrm>
            <a:off x="1097280" y="1563624"/>
            <a:ext cx="219456" cy="219456"/>
          </a:xfrm>
          <a:prstGeom prst="rect">
            <a:avLst/>
          </a:prstGeom>
        </p:spPr>
      </p:pic>
      <p:sp>
        <p:nvSpPr>
          <p:cNvPr id="7" name="Text 4"/>
          <p:cNvSpPr txBox="1"/>
          <p:nvPr/>
        </p:nvSpPr>
        <p:spPr>
          <a:xfrm>
            <a:off x="521208" y="1901952"/>
            <a:ext cx="1371600" cy="274320"/>
          </a:xfrm>
          <a:prstGeom prst="rect">
            <a:avLst/>
          </a:prstGeom>
          <a:noFill/>
          <a:ln/>
        </p:spPr>
        <p:txBody>
          <a:bodyPr wrap="square" lIns="0" tIns="0" rIns="0" bIns="0" rtlCol="0" anchor="ctr"/>
          <a:lstStyle/>
          <a:p>
            <a:pPr algn="ctr" indent="0" marL="0">
              <a:buNone/>
            </a:pPr>
            <a:r>
              <a:rPr lang="en-US" sz="1200" b="1" dirty="0">
                <a:solidFill>
                  <a:srgbClr val="2A1B34"/>
                </a:solidFill>
                <a:latin typeface="Calibri" pitchFamily="34" charset="0"/>
                <a:ea typeface="Calibri" pitchFamily="34" charset="-122"/>
                <a:cs typeface="Calibri" pitchFamily="34" charset="-120"/>
              </a:rPr>
              <a:t>ServiceNow export</a:t>
            </a:r>
            <a:endParaRPr lang="en-US" sz="1200" dirty="0"/>
          </a:p>
        </p:txBody>
      </p:sp>
      <p:sp>
        <p:nvSpPr>
          <p:cNvPr id="8" name="Text 5"/>
          <p:cNvSpPr txBox="1"/>
          <p:nvPr/>
        </p:nvSpPr>
        <p:spPr>
          <a:xfrm>
            <a:off x="521208" y="2157984"/>
            <a:ext cx="1371600" cy="310896"/>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incidents, any team</a:t>
            </a:r>
            <a:endParaRPr lang="en-US" sz="950" dirty="0"/>
          </a:p>
        </p:txBody>
      </p:sp>
      <p:sp>
        <p:nvSpPr>
          <p:cNvPr id="9" name="Shape 6"/>
          <p:cNvSpPr/>
          <p:nvPr/>
        </p:nvSpPr>
        <p:spPr>
          <a:xfrm>
            <a:off x="1965960" y="1860804"/>
            <a:ext cx="164592" cy="164592"/>
          </a:xfrm>
          <a:prstGeom prst="rightArrow">
            <a:avLst/>
          </a:prstGeom>
          <a:solidFill>
            <a:srgbClr val="B4D000"/>
          </a:solidFill>
          <a:ln w="12700">
            <a:solidFill>
              <a:srgbClr val="B4D000"/>
            </a:solidFill>
            <a:prstDash val="solid"/>
          </a:ln>
        </p:spPr>
      </p:sp>
      <p:sp>
        <p:nvSpPr>
          <p:cNvPr id="10" name="Shape 7"/>
          <p:cNvSpPr/>
          <p:nvPr/>
        </p:nvSpPr>
        <p:spPr>
          <a:xfrm>
            <a:off x="2148840" y="1371600"/>
            <a:ext cx="1481328" cy="1143000"/>
          </a:xfrm>
          <a:prstGeom prst="roundRect">
            <a:avLst>
              <a:gd name="adj" fmla="val 6400"/>
            </a:avLst>
          </a:prstGeom>
          <a:solidFill>
            <a:srgbClr val="F4EFF5"/>
          </a:solidFill>
          <a:ln w="12700">
            <a:solidFill>
              <a:srgbClr val="F4EFF5"/>
            </a:solidFill>
            <a:prstDash val="solid"/>
          </a:ln>
        </p:spPr>
      </p:sp>
      <p:sp>
        <p:nvSpPr>
          <p:cNvPr id="11" name="Shape 8"/>
          <p:cNvSpPr/>
          <p:nvPr/>
        </p:nvSpPr>
        <p:spPr>
          <a:xfrm>
            <a:off x="2706624" y="1490472"/>
            <a:ext cx="365760" cy="365760"/>
          </a:xfrm>
          <a:prstGeom prst="ellipse">
            <a:avLst/>
          </a:prstGeom>
          <a:solidFill>
            <a:srgbClr val="5C2D5E"/>
          </a:solidFill>
          <a:ln w="12700">
            <a:solidFill>
              <a:srgbClr val="5C2D5E"/>
            </a:solidFill>
            <a:prstDash val="solid"/>
          </a:ln>
        </p:spPr>
      </p:sp>
      <p:pic>
        <p:nvPicPr>
          <p:cNvPr id="12" name="Image 1" descr="preencoded.png">    </p:cNvPr>
          <p:cNvPicPr>
            <a:picLocks noChangeAspect="1"/>
          </p:cNvPicPr>
          <p:nvPr/>
        </p:nvPicPr>
        <p:blipFill>
          <a:blip r:embed="rId2"/>
          <a:stretch>
            <a:fillRect/>
          </a:stretch>
        </p:blipFill>
        <p:spPr>
          <a:xfrm>
            <a:off x="2779776" y="1563624"/>
            <a:ext cx="219456" cy="219456"/>
          </a:xfrm>
          <a:prstGeom prst="rect">
            <a:avLst/>
          </a:prstGeom>
        </p:spPr>
      </p:pic>
      <p:sp>
        <p:nvSpPr>
          <p:cNvPr id="13" name="Text 9"/>
          <p:cNvSpPr txBox="1"/>
          <p:nvPr/>
        </p:nvSpPr>
        <p:spPr>
          <a:xfrm>
            <a:off x="2203704" y="1901952"/>
            <a:ext cx="1371600" cy="274320"/>
          </a:xfrm>
          <a:prstGeom prst="rect">
            <a:avLst/>
          </a:prstGeom>
          <a:noFill/>
          <a:ln/>
        </p:spPr>
        <p:txBody>
          <a:bodyPr wrap="square" lIns="0" tIns="0" rIns="0" bIns="0" rtlCol="0" anchor="ctr"/>
          <a:lstStyle/>
          <a:p>
            <a:pPr algn="ctr" indent="0" marL="0">
              <a:buNone/>
            </a:pPr>
            <a:r>
              <a:rPr lang="en-US" sz="1200" b="1" dirty="0">
                <a:solidFill>
                  <a:srgbClr val="2A1B34"/>
                </a:solidFill>
                <a:latin typeface="Calibri" pitchFamily="34" charset="0"/>
                <a:ea typeface="Calibri" pitchFamily="34" charset="-122"/>
                <a:cs typeface="Calibri" pitchFamily="34" charset="-120"/>
              </a:rPr>
              <a:t>ToilLens</a:t>
            </a:r>
            <a:endParaRPr lang="en-US" sz="1200" dirty="0"/>
          </a:p>
        </p:txBody>
      </p:sp>
      <p:sp>
        <p:nvSpPr>
          <p:cNvPr id="14" name="Text 10"/>
          <p:cNvSpPr txBox="1"/>
          <p:nvPr/>
        </p:nvSpPr>
        <p:spPr>
          <a:xfrm>
            <a:off x="2203704" y="2157984"/>
            <a:ext cx="1371600" cy="310896"/>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finds the toil, exports a subset</a:t>
            </a:r>
            <a:endParaRPr lang="en-US" sz="950" dirty="0"/>
          </a:p>
        </p:txBody>
      </p:sp>
      <p:sp>
        <p:nvSpPr>
          <p:cNvPr id="15" name="Shape 11"/>
          <p:cNvSpPr/>
          <p:nvPr/>
        </p:nvSpPr>
        <p:spPr>
          <a:xfrm>
            <a:off x="3648456" y="1860804"/>
            <a:ext cx="164592" cy="164592"/>
          </a:xfrm>
          <a:prstGeom prst="rightArrow">
            <a:avLst/>
          </a:prstGeom>
          <a:solidFill>
            <a:srgbClr val="B4D000"/>
          </a:solidFill>
          <a:ln w="12700">
            <a:solidFill>
              <a:srgbClr val="B4D000"/>
            </a:solidFill>
            <a:prstDash val="solid"/>
          </a:ln>
        </p:spPr>
      </p:sp>
      <p:sp>
        <p:nvSpPr>
          <p:cNvPr id="16" name="Shape 12"/>
          <p:cNvSpPr/>
          <p:nvPr/>
        </p:nvSpPr>
        <p:spPr>
          <a:xfrm>
            <a:off x="3831336" y="1371600"/>
            <a:ext cx="1481328" cy="1143000"/>
          </a:xfrm>
          <a:prstGeom prst="roundRect">
            <a:avLst>
              <a:gd name="adj" fmla="val 6400"/>
            </a:avLst>
          </a:prstGeom>
          <a:solidFill>
            <a:srgbClr val="F4EFF5"/>
          </a:solidFill>
          <a:ln w="12700">
            <a:solidFill>
              <a:srgbClr val="F4EFF5"/>
            </a:solidFill>
            <a:prstDash val="solid"/>
          </a:ln>
        </p:spPr>
      </p:sp>
      <p:sp>
        <p:nvSpPr>
          <p:cNvPr id="17" name="Shape 13"/>
          <p:cNvSpPr/>
          <p:nvPr/>
        </p:nvSpPr>
        <p:spPr>
          <a:xfrm>
            <a:off x="4389120" y="1490472"/>
            <a:ext cx="365760" cy="365760"/>
          </a:xfrm>
          <a:prstGeom prst="ellipse">
            <a:avLst/>
          </a:prstGeom>
          <a:solidFill>
            <a:srgbClr val="5C2D5E"/>
          </a:solidFill>
          <a:ln w="12700">
            <a:solidFill>
              <a:srgbClr val="5C2D5E"/>
            </a:solidFill>
            <a:prstDash val="solid"/>
          </a:ln>
        </p:spPr>
      </p:sp>
      <p:pic>
        <p:nvPicPr>
          <p:cNvPr id="18" name="Image 2" descr="preencoded.png">    </p:cNvPr>
          <p:cNvPicPr>
            <a:picLocks noChangeAspect="1"/>
          </p:cNvPicPr>
          <p:nvPr/>
        </p:nvPicPr>
        <p:blipFill>
          <a:blip r:embed="rId3"/>
          <a:stretch>
            <a:fillRect/>
          </a:stretch>
        </p:blipFill>
        <p:spPr>
          <a:xfrm>
            <a:off x="4462272" y="1563624"/>
            <a:ext cx="219456" cy="219456"/>
          </a:xfrm>
          <a:prstGeom prst="rect">
            <a:avLst/>
          </a:prstGeom>
        </p:spPr>
      </p:pic>
      <p:sp>
        <p:nvSpPr>
          <p:cNvPr id="19" name="Text 14"/>
          <p:cNvSpPr txBox="1"/>
          <p:nvPr/>
        </p:nvSpPr>
        <p:spPr>
          <a:xfrm>
            <a:off x="3886200" y="1901952"/>
            <a:ext cx="1371600" cy="274320"/>
          </a:xfrm>
          <a:prstGeom prst="rect">
            <a:avLst/>
          </a:prstGeom>
          <a:noFill/>
          <a:ln/>
        </p:spPr>
        <p:txBody>
          <a:bodyPr wrap="square" lIns="0" tIns="0" rIns="0" bIns="0" rtlCol="0" anchor="ctr"/>
          <a:lstStyle/>
          <a:p>
            <a:pPr algn="ctr" indent="0" marL="0">
              <a:buNone/>
            </a:pPr>
            <a:r>
              <a:rPr lang="en-US" sz="1200" b="1" dirty="0">
                <a:solidFill>
                  <a:srgbClr val="2A1B34"/>
                </a:solidFill>
                <a:latin typeface="Calibri" pitchFamily="34" charset="0"/>
                <a:ea typeface="Calibri" pitchFamily="34" charset="-122"/>
                <a:cs typeface="Calibri" pitchFamily="34" charset="-120"/>
              </a:rPr>
              <a:t>Repeat offenders</a:t>
            </a:r>
            <a:endParaRPr lang="en-US" sz="1200" dirty="0"/>
          </a:p>
        </p:txBody>
      </p:sp>
      <p:sp>
        <p:nvSpPr>
          <p:cNvPr id="20" name="Text 15"/>
          <p:cNvSpPr txBox="1"/>
          <p:nvPr/>
        </p:nvSpPr>
        <p:spPr>
          <a:xfrm>
            <a:off x="3886200" y="2157984"/>
            <a:ext cx="1371600" cy="310896"/>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grouped by job, file, host</a:t>
            </a:r>
            <a:endParaRPr lang="en-US" sz="950" dirty="0"/>
          </a:p>
        </p:txBody>
      </p:sp>
      <p:sp>
        <p:nvSpPr>
          <p:cNvPr id="21" name="Shape 16"/>
          <p:cNvSpPr/>
          <p:nvPr/>
        </p:nvSpPr>
        <p:spPr>
          <a:xfrm>
            <a:off x="5330952" y="1860804"/>
            <a:ext cx="164592" cy="164592"/>
          </a:xfrm>
          <a:prstGeom prst="rightArrow">
            <a:avLst/>
          </a:prstGeom>
          <a:solidFill>
            <a:srgbClr val="B4D000"/>
          </a:solidFill>
          <a:ln w="12700">
            <a:solidFill>
              <a:srgbClr val="B4D000"/>
            </a:solidFill>
            <a:prstDash val="solid"/>
          </a:ln>
        </p:spPr>
      </p:sp>
      <p:sp>
        <p:nvSpPr>
          <p:cNvPr id="22" name="Shape 17"/>
          <p:cNvSpPr/>
          <p:nvPr/>
        </p:nvSpPr>
        <p:spPr>
          <a:xfrm>
            <a:off x="5513832" y="1371600"/>
            <a:ext cx="1481328" cy="1143000"/>
          </a:xfrm>
          <a:prstGeom prst="roundRect">
            <a:avLst>
              <a:gd name="adj" fmla="val 6400"/>
            </a:avLst>
          </a:prstGeom>
          <a:solidFill>
            <a:srgbClr val="F4EFF5"/>
          </a:solidFill>
          <a:ln w="12700">
            <a:solidFill>
              <a:srgbClr val="F4EFF5"/>
            </a:solidFill>
            <a:prstDash val="solid"/>
          </a:ln>
        </p:spPr>
      </p:sp>
      <p:sp>
        <p:nvSpPr>
          <p:cNvPr id="23" name="Shape 18"/>
          <p:cNvSpPr/>
          <p:nvPr/>
        </p:nvSpPr>
        <p:spPr>
          <a:xfrm>
            <a:off x="6071616" y="1490472"/>
            <a:ext cx="365760" cy="365760"/>
          </a:xfrm>
          <a:prstGeom prst="ellipse">
            <a:avLst/>
          </a:prstGeom>
          <a:solidFill>
            <a:srgbClr val="5C2D5E"/>
          </a:solidFill>
          <a:ln w="12700">
            <a:solidFill>
              <a:srgbClr val="5C2D5E"/>
            </a:solidFill>
            <a:prstDash val="solid"/>
          </a:ln>
        </p:spPr>
      </p:sp>
      <p:pic>
        <p:nvPicPr>
          <p:cNvPr id="24" name="Image 3" descr="preencoded.png">    </p:cNvPr>
          <p:cNvPicPr>
            <a:picLocks noChangeAspect="1"/>
          </p:cNvPicPr>
          <p:nvPr/>
        </p:nvPicPr>
        <p:blipFill>
          <a:blip r:embed="rId4"/>
          <a:stretch>
            <a:fillRect/>
          </a:stretch>
        </p:blipFill>
        <p:spPr>
          <a:xfrm>
            <a:off x="6144768" y="1563624"/>
            <a:ext cx="219456" cy="219456"/>
          </a:xfrm>
          <a:prstGeom prst="rect">
            <a:avLst/>
          </a:prstGeom>
        </p:spPr>
      </p:pic>
      <p:sp>
        <p:nvSpPr>
          <p:cNvPr id="25" name="Text 19"/>
          <p:cNvSpPr txBox="1"/>
          <p:nvPr/>
        </p:nvSpPr>
        <p:spPr>
          <a:xfrm>
            <a:off x="5568696" y="1901952"/>
            <a:ext cx="1371600" cy="274320"/>
          </a:xfrm>
          <a:prstGeom prst="rect">
            <a:avLst/>
          </a:prstGeom>
          <a:noFill/>
          <a:ln/>
        </p:spPr>
        <p:txBody>
          <a:bodyPr wrap="square" lIns="0" tIns="0" rIns="0" bIns="0" rtlCol="0" anchor="ctr"/>
          <a:lstStyle/>
          <a:p>
            <a:pPr algn="ctr" indent="0" marL="0">
              <a:buNone/>
            </a:pPr>
            <a:r>
              <a:rPr lang="en-US" sz="1200" b="1" dirty="0">
                <a:solidFill>
                  <a:srgbClr val="2A1B34"/>
                </a:solidFill>
                <a:latin typeface="Calibri" pitchFamily="34" charset="0"/>
                <a:ea typeface="Calibri" pitchFamily="34" charset="-122"/>
                <a:cs typeface="Calibri" pitchFamily="34" charset="-120"/>
              </a:rPr>
              <a:t>One line of evidence</a:t>
            </a:r>
            <a:endParaRPr lang="en-US" sz="1200" dirty="0"/>
          </a:p>
        </p:txBody>
      </p:sp>
      <p:sp>
        <p:nvSpPr>
          <p:cNvPr id="26" name="Text 20"/>
          <p:cNvSpPr txBox="1"/>
          <p:nvPr/>
        </p:nvSpPr>
        <p:spPr>
          <a:xfrm>
            <a:off x="5568696" y="2157984"/>
            <a:ext cx="1371600" cy="310896"/>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per offender, from Dynatrace</a:t>
            </a:r>
            <a:endParaRPr lang="en-US" sz="950" dirty="0"/>
          </a:p>
        </p:txBody>
      </p:sp>
      <p:sp>
        <p:nvSpPr>
          <p:cNvPr id="27" name="Shape 21"/>
          <p:cNvSpPr/>
          <p:nvPr/>
        </p:nvSpPr>
        <p:spPr>
          <a:xfrm>
            <a:off x="7013448" y="1860804"/>
            <a:ext cx="164592" cy="164592"/>
          </a:xfrm>
          <a:prstGeom prst="rightArrow">
            <a:avLst/>
          </a:prstGeom>
          <a:solidFill>
            <a:srgbClr val="B4D000"/>
          </a:solidFill>
          <a:ln w="12700">
            <a:solidFill>
              <a:srgbClr val="B4D000"/>
            </a:solidFill>
            <a:prstDash val="solid"/>
          </a:ln>
        </p:spPr>
      </p:sp>
      <p:sp>
        <p:nvSpPr>
          <p:cNvPr id="28" name="Shape 22"/>
          <p:cNvSpPr/>
          <p:nvPr/>
        </p:nvSpPr>
        <p:spPr>
          <a:xfrm>
            <a:off x="7196328" y="1371600"/>
            <a:ext cx="1481328" cy="1143000"/>
          </a:xfrm>
          <a:prstGeom prst="roundRect">
            <a:avLst>
              <a:gd name="adj" fmla="val 6400"/>
            </a:avLst>
          </a:prstGeom>
          <a:solidFill>
            <a:srgbClr val="F4EFF5"/>
          </a:solidFill>
          <a:ln w="12700">
            <a:solidFill>
              <a:srgbClr val="F4EFF5"/>
            </a:solidFill>
            <a:prstDash val="solid"/>
          </a:ln>
        </p:spPr>
      </p:sp>
      <p:sp>
        <p:nvSpPr>
          <p:cNvPr id="29" name="Shape 23"/>
          <p:cNvSpPr/>
          <p:nvPr/>
        </p:nvSpPr>
        <p:spPr>
          <a:xfrm>
            <a:off x="7754112" y="1490472"/>
            <a:ext cx="365760" cy="365760"/>
          </a:xfrm>
          <a:prstGeom prst="ellipse">
            <a:avLst/>
          </a:prstGeom>
          <a:solidFill>
            <a:srgbClr val="5C2D5E"/>
          </a:solidFill>
          <a:ln w="12700">
            <a:solidFill>
              <a:srgbClr val="5C2D5E"/>
            </a:solidFill>
            <a:prstDash val="solid"/>
          </a:ln>
        </p:spPr>
      </p:sp>
      <p:pic>
        <p:nvPicPr>
          <p:cNvPr id="30" name="Image 4" descr="preencoded.png">    </p:cNvPr>
          <p:cNvPicPr>
            <a:picLocks noChangeAspect="1"/>
          </p:cNvPicPr>
          <p:nvPr/>
        </p:nvPicPr>
        <p:blipFill>
          <a:blip r:embed="rId5"/>
          <a:stretch>
            <a:fillRect/>
          </a:stretch>
        </p:blipFill>
        <p:spPr>
          <a:xfrm>
            <a:off x="7827264" y="1563624"/>
            <a:ext cx="219456" cy="219456"/>
          </a:xfrm>
          <a:prstGeom prst="rect">
            <a:avLst/>
          </a:prstGeom>
        </p:spPr>
      </p:pic>
      <p:sp>
        <p:nvSpPr>
          <p:cNvPr id="31" name="Text 24"/>
          <p:cNvSpPr txBox="1"/>
          <p:nvPr/>
        </p:nvSpPr>
        <p:spPr>
          <a:xfrm>
            <a:off x="7251192" y="1901952"/>
            <a:ext cx="1371600" cy="274320"/>
          </a:xfrm>
          <a:prstGeom prst="rect">
            <a:avLst/>
          </a:prstGeom>
          <a:noFill/>
          <a:ln/>
        </p:spPr>
        <p:txBody>
          <a:bodyPr wrap="square" lIns="0" tIns="0" rIns="0" bIns="0" rtlCol="0" anchor="ctr"/>
          <a:lstStyle/>
          <a:p>
            <a:pPr algn="ctr" indent="0" marL="0">
              <a:buNone/>
            </a:pPr>
            <a:r>
              <a:rPr lang="en-US" sz="1200" b="1" dirty="0">
                <a:solidFill>
                  <a:srgbClr val="2A1B34"/>
                </a:solidFill>
                <a:latin typeface="Calibri" pitchFamily="34" charset="0"/>
                <a:ea typeface="Calibri" pitchFamily="34" charset="-122"/>
                <a:cs typeface="Calibri" pitchFamily="34" charset="-120"/>
              </a:rPr>
              <a:t>Jira + Confluence</a:t>
            </a:r>
            <a:endParaRPr lang="en-US" sz="1200" dirty="0"/>
          </a:p>
        </p:txBody>
      </p:sp>
      <p:sp>
        <p:nvSpPr>
          <p:cNvPr id="32" name="Text 25"/>
          <p:cNvSpPr txBox="1"/>
          <p:nvPr/>
        </p:nvSpPr>
        <p:spPr>
          <a:xfrm>
            <a:off x="7251192" y="2157984"/>
            <a:ext cx="1371600" cy="310896"/>
          </a:xfrm>
          <a:prstGeom prst="rect">
            <a:avLst/>
          </a:prstGeom>
          <a:noFill/>
          <a:ln/>
        </p:spPr>
        <p:txBody>
          <a:bodyPr wrap="square" lIns="0" tIns="0" rIns="0" bIns="0" rtlCol="0" anchor="ctr"/>
          <a:lstStyle/>
          <a:p>
            <a:pPr algn="ctr" indent="0" marL="0">
              <a:buNone/>
            </a:pPr>
            <a:r>
              <a:rPr lang="en-US" sz="950" dirty="0">
                <a:solidFill>
                  <a:srgbClr val="6B6B6B"/>
                </a:solidFill>
                <a:latin typeface="Calibri" pitchFamily="34" charset="0"/>
                <a:ea typeface="Calibri" pitchFamily="34" charset="-122"/>
                <a:cs typeface="Calibri" pitchFamily="34" charset="-120"/>
              </a:rPr>
              <a:t>drafted, a person approves</a:t>
            </a:r>
            <a:endParaRPr lang="en-US" sz="950" dirty="0"/>
          </a:p>
        </p:txBody>
      </p:sp>
      <p:sp>
        <p:nvSpPr>
          <p:cNvPr id="33" name="Text 26"/>
          <p:cNvSpPr txBox="1"/>
          <p:nvPr/>
        </p:nvSpPr>
        <p:spPr>
          <a:xfrm>
            <a:off x="457200" y="2788920"/>
            <a:ext cx="8229600" cy="228600"/>
          </a:xfrm>
          <a:prstGeom prst="rect">
            <a:avLst/>
          </a:prstGeom>
          <a:noFill/>
          <a:ln/>
        </p:spPr>
        <p:txBody>
          <a:bodyPr wrap="square" lIns="0" tIns="0" rIns="0" bIns="0" rtlCol="0" anchor="ctr"/>
          <a:lstStyle/>
          <a:p>
            <a:pPr indent="0" marL="0">
              <a:buNone/>
            </a:pPr>
            <a:r>
              <a:rPr lang="en-US" sz="1000" b="1" spc="200" kern="0" dirty="0">
                <a:solidFill>
                  <a:srgbClr val="5C2D5E"/>
                </a:solidFill>
                <a:latin typeface="Calibri" pitchFamily="34" charset="0"/>
                <a:ea typeface="Calibri" pitchFamily="34" charset="-122"/>
                <a:cs typeface="Calibri" pitchFamily="34" charset="-120"/>
              </a:rPr>
              <a:t>ONE REAL RUN  ·  CONTROL-M  ·  30-DAY EXPORT</a:t>
            </a:r>
            <a:endParaRPr lang="en-US" sz="1000" dirty="0"/>
          </a:p>
        </p:txBody>
      </p:sp>
      <p:sp>
        <p:nvSpPr>
          <p:cNvPr id="34" name="Text 27"/>
          <p:cNvSpPr txBox="1"/>
          <p:nvPr/>
        </p:nvSpPr>
        <p:spPr>
          <a:xfrm>
            <a:off x="457200" y="3063240"/>
            <a:ext cx="1508760" cy="566928"/>
          </a:xfrm>
          <a:prstGeom prst="rect">
            <a:avLst/>
          </a:prstGeom>
          <a:noFill/>
          <a:ln/>
        </p:spPr>
        <p:txBody>
          <a:bodyPr wrap="square" lIns="0" tIns="0" rIns="0" bIns="0" rtlCol="0" anchor="ctr"/>
          <a:lstStyle/>
          <a:p>
            <a:pPr indent="0" marL="0">
              <a:buNone/>
            </a:pPr>
            <a:r>
              <a:rPr lang="en-US" sz="3400" b="1" dirty="0">
                <a:solidFill>
                  <a:srgbClr val="2A1B34"/>
                </a:solidFill>
                <a:latin typeface="Calibri" pitchFamily="34" charset="0"/>
                <a:ea typeface="Calibri" pitchFamily="34" charset="-122"/>
                <a:cs typeface="Calibri" pitchFamily="34" charset="-120"/>
              </a:rPr>
              <a:t>[ N ]</a:t>
            </a:r>
            <a:endParaRPr lang="en-US" sz="3400" dirty="0"/>
          </a:p>
        </p:txBody>
      </p:sp>
      <p:sp>
        <p:nvSpPr>
          <p:cNvPr id="35" name="Text 28"/>
          <p:cNvSpPr txBox="1"/>
          <p:nvPr/>
        </p:nvSpPr>
        <p:spPr>
          <a:xfrm>
            <a:off x="457200" y="3630168"/>
            <a:ext cx="1508760" cy="2743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incidents in the window</a:t>
            </a:r>
            <a:endParaRPr lang="en-US" sz="1050" dirty="0"/>
          </a:p>
        </p:txBody>
      </p:sp>
      <p:sp>
        <p:nvSpPr>
          <p:cNvPr id="36" name="Text 29"/>
          <p:cNvSpPr txBox="1"/>
          <p:nvPr/>
        </p:nvSpPr>
        <p:spPr>
          <a:xfrm>
            <a:off x="2103120" y="3063240"/>
            <a:ext cx="1508760" cy="566928"/>
          </a:xfrm>
          <a:prstGeom prst="rect">
            <a:avLst/>
          </a:prstGeom>
          <a:noFill/>
          <a:ln/>
        </p:spPr>
        <p:txBody>
          <a:bodyPr wrap="square" lIns="0" tIns="0" rIns="0" bIns="0" rtlCol="0" anchor="ctr"/>
          <a:lstStyle/>
          <a:p>
            <a:pPr indent="0" marL="0">
              <a:buNone/>
            </a:pPr>
            <a:r>
              <a:rPr lang="en-US" sz="3400" b="1" dirty="0">
                <a:solidFill>
                  <a:srgbClr val="2A1B34"/>
                </a:solidFill>
                <a:latin typeface="Calibri" pitchFamily="34" charset="0"/>
                <a:ea typeface="Calibri" pitchFamily="34" charset="-122"/>
                <a:cs typeface="Calibri" pitchFamily="34" charset="-120"/>
              </a:rPr>
              <a:t>[ N ]</a:t>
            </a:r>
            <a:endParaRPr lang="en-US" sz="3400" dirty="0"/>
          </a:p>
        </p:txBody>
      </p:sp>
      <p:sp>
        <p:nvSpPr>
          <p:cNvPr id="37" name="Text 30"/>
          <p:cNvSpPr txBox="1"/>
          <p:nvPr/>
        </p:nvSpPr>
        <p:spPr>
          <a:xfrm>
            <a:off x="2103120" y="3630168"/>
            <a:ext cx="1508760" cy="2743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repeat offenders found</a:t>
            </a:r>
            <a:endParaRPr lang="en-US" sz="1050" dirty="0"/>
          </a:p>
        </p:txBody>
      </p:sp>
      <p:sp>
        <p:nvSpPr>
          <p:cNvPr id="38" name="Text 31"/>
          <p:cNvSpPr txBox="1"/>
          <p:nvPr/>
        </p:nvSpPr>
        <p:spPr>
          <a:xfrm>
            <a:off x="3749040" y="3063240"/>
            <a:ext cx="1508760" cy="566928"/>
          </a:xfrm>
          <a:prstGeom prst="rect">
            <a:avLst/>
          </a:prstGeom>
          <a:noFill/>
          <a:ln/>
        </p:spPr>
        <p:txBody>
          <a:bodyPr wrap="square" lIns="0" tIns="0" rIns="0" bIns="0" rtlCol="0" anchor="ctr"/>
          <a:lstStyle/>
          <a:p>
            <a:pPr indent="0" marL="0">
              <a:buNone/>
            </a:pPr>
            <a:r>
              <a:rPr lang="en-US" sz="3400" b="1" dirty="0">
                <a:solidFill>
                  <a:srgbClr val="2A1B34"/>
                </a:solidFill>
                <a:latin typeface="Calibri" pitchFamily="34" charset="0"/>
                <a:ea typeface="Calibri" pitchFamily="34" charset="-122"/>
                <a:cs typeface="Calibri" pitchFamily="34" charset="-120"/>
              </a:rPr>
              <a:t>[ N ]</a:t>
            </a:r>
            <a:endParaRPr lang="en-US" sz="3400" dirty="0"/>
          </a:p>
        </p:txBody>
      </p:sp>
      <p:sp>
        <p:nvSpPr>
          <p:cNvPr id="39" name="Text 32"/>
          <p:cNvSpPr txBox="1"/>
          <p:nvPr/>
        </p:nvSpPr>
        <p:spPr>
          <a:xfrm>
            <a:off x="3749040" y="3630168"/>
            <a:ext cx="1508760" cy="2743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hours per month in scope</a:t>
            </a:r>
            <a:endParaRPr lang="en-US" sz="1050" dirty="0"/>
          </a:p>
        </p:txBody>
      </p:sp>
      <p:sp>
        <p:nvSpPr>
          <p:cNvPr id="40" name="Text 33"/>
          <p:cNvSpPr txBox="1"/>
          <p:nvPr/>
        </p:nvSpPr>
        <p:spPr>
          <a:xfrm>
            <a:off x="5394960" y="3063240"/>
            <a:ext cx="1508760" cy="566928"/>
          </a:xfrm>
          <a:prstGeom prst="rect">
            <a:avLst/>
          </a:prstGeom>
          <a:noFill/>
          <a:ln/>
        </p:spPr>
        <p:txBody>
          <a:bodyPr wrap="square" lIns="0" tIns="0" rIns="0" bIns="0" rtlCol="0" anchor="ctr"/>
          <a:lstStyle/>
          <a:p>
            <a:pPr indent="0" marL="0">
              <a:buNone/>
            </a:pPr>
            <a:r>
              <a:rPr lang="en-US" sz="3400" b="1" dirty="0">
                <a:solidFill>
                  <a:srgbClr val="2A1B34"/>
                </a:solidFill>
                <a:latin typeface="Calibri" pitchFamily="34" charset="0"/>
                <a:ea typeface="Calibri" pitchFamily="34" charset="-122"/>
                <a:cs typeface="Calibri" pitchFamily="34" charset="-120"/>
              </a:rPr>
              <a:t>[ N ]</a:t>
            </a:r>
            <a:endParaRPr lang="en-US" sz="3400" dirty="0"/>
          </a:p>
        </p:txBody>
      </p:sp>
      <p:sp>
        <p:nvSpPr>
          <p:cNvPr id="41" name="Text 34"/>
          <p:cNvSpPr txBox="1"/>
          <p:nvPr/>
        </p:nvSpPr>
        <p:spPr>
          <a:xfrm>
            <a:off x="5394960" y="3630168"/>
            <a:ext cx="1508760" cy="2743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Jiras now in backlog</a:t>
            </a:r>
            <a:endParaRPr lang="en-US" sz="1050" dirty="0"/>
          </a:p>
        </p:txBody>
      </p:sp>
      <p:sp>
        <p:nvSpPr>
          <p:cNvPr id="42" name="Text 35"/>
          <p:cNvSpPr txBox="1"/>
          <p:nvPr/>
        </p:nvSpPr>
        <p:spPr>
          <a:xfrm>
            <a:off x="7040880" y="3063240"/>
            <a:ext cx="1508760" cy="566928"/>
          </a:xfrm>
          <a:prstGeom prst="rect">
            <a:avLst/>
          </a:prstGeom>
          <a:noFill/>
          <a:ln/>
        </p:spPr>
        <p:txBody>
          <a:bodyPr wrap="square" lIns="0" tIns="0" rIns="0" bIns="0" rtlCol="0" anchor="ctr"/>
          <a:lstStyle/>
          <a:p>
            <a:pPr indent="0" marL="0">
              <a:buNone/>
            </a:pPr>
            <a:r>
              <a:rPr lang="en-US" sz="3400" b="1" dirty="0">
                <a:solidFill>
                  <a:srgbClr val="2A1B34"/>
                </a:solidFill>
                <a:latin typeface="Calibri" pitchFamily="34" charset="0"/>
                <a:ea typeface="Calibri" pitchFamily="34" charset="-122"/>
                <a:cs typeface="Calibri" pitchFamily="34" charset="-120"/>
              </a:rPr>
              <a:t>[ N ] hrs</a:t>
            </a:r>
            <a:endParaRPr lang="en-US" sz="3400" dirty="0"/>
          </a:p>
        </p:txBody>
      </p:sp>
      <p:sp>
        <p:nvSpPr>
          <p:cNvPr id="43" name="Text 36"/>
          <p:cNvSpPr txBox="1"/>
          <p:nvPr/>
        </p:nvSpPr>
        <p:spPr>
          <a:xfrm>
            <a:off x="7040880" y="3630168"/>
            <a:ext cx="1508760" cy="274320"/>
          </a:xfrm>
          <a:prstGeom prst="rect">
            <a:avLst/>
          </a:prstGeom>
          <a:noFill/>
          <a:ln/>
        </p:spPr>
        <p:txBody>
          <a:bodyPr wrap="square" lIns="0" tIns="0" rIns="0" bIns="0" rtlCol="0" anchor="ctr"/>
          <a:lstStyle/>
          <a:p>
            <a:pPr indent="0" marL="0">
              <a:buNone/>
            </a:pPr>
            <a:r>
              <a:rPr lang="en-US" sz="1050" dirty="0">
                <a:solidFill>
                  <a:srgbClr val="6B6B6B"/>
                </a:solidFill>
                <a:latin typeface="Calibri" pitchFamily="34" charset="0"/>
                <a:ea typeface="Calibri" pitchFamily="34" charset="-122"/>
                <a:cs typeface="Calibri" pitchFamily="34" charset="-120"/>
              </a:rPr>
              <a:t>from CSV to backlog</a:t>
            </a:r>
            <a:endParaRPr lang="en-US" sz="1050" dirty="0"/>
          </a:p>
        </p:txBody>
      </p:sp>
      <p:sp>
        <p:nvSpPr>
          <p:cNvPr id="44" name="Shape 37"/>
          <p:cNvSpPr/>
          <p:nvPr/>
        </p:nvSpPr>
        <p:spPr>
          <a:xfrm>
            <a:off x="457200" y="4114800"/>
            <a:ext cx="8229600" cy="0"/>
          </a:xfrm>
          <a:prstGeom prst="line">
            <a:avLst/>
          </a:prstGeom>
          <a:noFill/>
          <a:ln w="9525">
            <a:solidFill>
              <a:srgbClr val="E2E2E2"/>
            </a:solidFill>
            <a:prstDash val="solid"/>
          </a:ln>
        </p:spPr>
      </p:sp>
      <p:sp>
        <p:nvSpPr>
          <p:cNvPr id="45" name="Shape 38"/>
          <p:cNvSpPr/>
          <p:nvPr/>
        </p:nvSpPr>
        <p:spPr>
          <a:xfrm>
            <a:off x="457200" y="4251960"/>
            <a:ext cx="237744" cy="237744"/>
          </a:xfrm>
          <a:prstGeom prst="ellipse">
            <a:avLst/>
          </a:prstGeom>
          <a:solidFill>
            <a:srgbClr val="B4D000"/>
          </a:solidFill>
          <a:ln w="12700">
            <a:solidFill>
              <a:srgbClr val="B4D000"/>
            </a:solidFill>
            <a:prstDash val="solid"/>
          </a:ln>
        </p:spPr>
      </p:sp>
      <p:pic>
        <p:nvPicPr>
          <p:cNvPr id="46" name="Image 5" descr="preencoded.png">    </p:cNvPr>
          <p:cNvPicPr>
            <a:picLocks noChangeAspect="1"/>
          </p:cNvPicPr>
          <p:nvPr/>
        </p:nvPicPr>
        <p:blipFill>
          <a:blip r:embed="rId6"/>
          <a:stretch>
            <a:fillRect/>
          </a:stretch>
        </p:blipFill>
        <p:spPr>
          <a:xfrm>
            <a:off x="502920" y="4297680"/>
            <a:ext cx="146304" cy="146304"/>
          </a:xfrm>
          <a:prstGeom prst="rect">
            <a:avLst/>
          </a:prstGeom>
        </p:spPr>
      </p:pic>
      <p:sp>
        <p:nvSpPr>
          <p:cNvPr id="47" name="Text 39"/>
          <p:cNvSpPr txBox="1"/>
          <p:nvPr/>
        </p:nvSpPr>
        <p:spPr>
          <a:xfrm>
            <a:off x="786384" y="4224528"/>
            <a:ext cx="2423160" cy="292608"/>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Data never leaves the laptop</a:t>
            </a:r>
            <a:endParaRPr lang="en-US" sz="1100" dirty="0"/>
          </a:p>
        </p:txBody>
      </p:sp>
      <p:sp>
        <p:nvSpPr>
          <p:cNvPr id="48" name="Shape 40"/>
          <p:cNvSpPr/>
          <p:nvPr/>
        </p:nvSpPr>
        <p:spPr>
          <a:xfrm>
            <a:off x="3246120" y="4251960"/>
            <a:ext cx="237744" cy="237744"/>
          </a:xfrm>
          <a:prstGeom prst="ellipse">
            <a:avLst/>
          </a:prstGeom>
          <a:solidFill>
            <a:srgbClr val="B4D000"/>
          </a:solidFill>
          <a:ln w="12700">
            <a:solidFill>
              <a:srgbClr val="B4D000"/>
            </a:solidFill>
            <a:prstDash val="solid"/>
          </a:ln>
        </p:spPr>
      </p:sp>
      <p:pic>
        <p:nvPicPr>
          <p:cNvPr id="49" name="Image 6" descr="preencoded.png">    </p:cNvPr>
          <p:cNvPicPr>
            <a:picLocks noChangeAspect="1"/>
          </p:cNvPicPr>
          <p:nvPr/>
        </p:nvPicPr>
        <p:blipFill>
          <a:blip r:embed="rId7"/>
          <a:stretch>
            <a:fillRect/>
          </a:stretch>
        </p:blipFill>
        <p:spPr>
          <a:xfrm>
            <a:off x="3291840" y="4297680"/>
            <a:ext cx="146304" cy="146304"/>
          </a:xfrm>
          <a:prstGeom prst="rect">
            <a:avLst/>
          </a:prstGeom>
        </p:spPr>
      </p:pic>
      <p:sp>
        <p:nvSpPr>
          <p:cNvPr id="50" name="Text 41"/>
          <p:cNvSpPr txBox="1"/>
          <p:nvPr/>
        </p:nvSpPr>
        <p:spPr>
          <a:xfrm>
            <a:off x="3575304" y="4224528"/>
            <a:ext cx="2423160" cy="292608"/>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Every number traces to incident IDs</a:t>
            </a:r>
            <a:endParaRPr lang="en-US" sz="1100" dirty="0"/>
          </a:p>
        </p:txBody>
      </p:sp>
      <p:sp>
        <p:nvSpPr>
          <p:cNvPr id="51" name="Shape 42"/>
          <p:cNvSpPr/>
          <p:nvPr/>
        </p:nvSpPr>
        <p:spPr>
          <a:xfrm>
            <a:off x="6035040" y="4251960"/>
            <a:ext cx="237744" cy="237744"/>
          </a:xfrm>
          <a:prstGeom prst="ellipse">
            <a:avLst/>
          </a:prstGeom>
          <a:solidFill>
            <a:srgbClr val="B4D000"/>
          </a:solidFill>
          <a:ln w="12700">
            <a:solidFill>
              <a:srgbClr val="B4D000"/>
            </a:solidFill>
            <a:prstDash val="solid"/>
          </a:ln>
        </p:spPr>
      </p:sp>
      <p:pic>
        <p:nvPicPr>
          <p:cNvPr id="52" name="Image 7" descr="preencoded.png">    </p:cNvPr>
          <p:cNvPicPr>
            <a:picLocks noChangeAspect="1"/>
          </p:cNvPicPr>
          <p:nvPr/>
        </p:nvPicPr>
        <p:blipFill>
          <a:blip r:embed="rId8"/>
          <a:stretch>
            <a:fillRect/>
          </a:stretch>
        </p:blipFill>
        <p:spPr>
          <a:xfrm>
            <a:off x="6080760" y="4297680"/>
            <a:ext cx="146304" cy="146304"/>
          </a:xfrm>
          <a:prstGeom prst="rect">
            <a:avLst/>
          </a:prstGeom>
        </p:spPr>
      </p:pic>
      <p:sp>
        <p:nvSpPr>
          <p:cNvPr id="53" name="Text 43"/>
          <p:cNvSpPr txBox="1"/>
          <p:nvPr/>
        </p:nvSpPr>
        <p:spPr>
          <a:xfrm>
            <a:off x="6364224" y="4224528"/>
            <a:ext cx="2423160" cy="292608"/>
          </a:xfrm>
          <a:prstGeom prst="rect">
            <a:avLst/>
          </a:prstGeom>
          <a:noFill/>
          <a:ln/>
        </p:spPr>
        <p:txBody>
          <a:bodyPr wrap="square" lIns="0" tIns="0" rIns="0" bIns="0" rtlCol="0" anchor="ctr"/>
          <a:lstStyle/>
          <a:p>
            <a:pPr indent="0" marL="0">
              <a:buNone/>
            </a:pPr>
            <a:r>
              <a:rPr lang="en-US" sz="1100" dirty="0">
                <a:solidFill>
                  <a:srgbClr val="1C1C1C"/>
                </a:solidFill>
                <a:latin typeface="Calibri" pitchFamily="34" charset="0"/>
                <a:ea typeface="Calibri" pitchFamily="34" charset="-122"/>
                <a:cs typeface="Calibri" pitchFamily="34" charset="-120"/>
              </a:rPr>
              <a:t>Nothing is created without approval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B34"/>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Two minutes, end to end</a:t>
            </a:r>
            <a:endParaRPr lang="en-US" sz="2800" dirty="0"/>
          </a:p>
        </p:txBody>
      </p:sp>
      <p:sp>
        <p:nvSpPr>
          <p:cNvPr id="3" name="Text 1"/>
          <p:cNvSpPr txBox="1"/>
          <p:nvPr/>
        </p:nvSpPr>
        <p:spPr>
          <a:xfrm>
            <a:off x="457200" y="822960"/>
            <a:ext cx="8229600" cy="274320"/>
          </a:xfrm>
          <a:prstGeom prst="rect">
            <a:avLst/>
          </a:prstGeom>
          <a:noFill/>
          <a:ln/>
        </p:spPr>
        <p:txBody>
          <a:bodyPr wrap="square" lIns="0" tIns="0" rIns="0" bIns="0" rtlCol="0" anchor="ctr"/>
          <a:lstStyle/>
          <a:p>
            <a:pPr indent="0" marL="0">
              <a:buNone/>
            </a:pPr>
            <a:r>
              <a:rPr lang="en-US" sz="1200" dirty="0">
                <a:solidFill>
                  <a:srgbClr val="CFC5D3"/>
                </a:solidFill>
                <a:latin typeface="Calibri" pitchFamily="34" charset="0"/>
                <a:ea typeface="Calibri" pitchFamily="34" charset="-122"/>
                <a:cs typeface="Calibri" pitchFamily="34" charset="-120"/>
              </a:rPr>
              <a:t>Recorded on a sanitised export. Nothing here touches production.</a:t>
            </a:r>
            <a:endParaRPr lang="en-US" sz="1200" dirty="0"/>
          </a:p>
        </p:txBody>
      </p:sp>
      <p:sp>
        <p:nvSpPr>
          <p:cNvPr id="4" name="Shape 2"/>
          <p:cNvSpPr/>
          <p:nvPr/>
        </p:nvSpPr>
        <p:spPr>
          <a:xfrm>
            <a:off x="1645920" y="1234440"/>
            <a:ext cx="5852160" cy="3291840"/>
          </a:xfrm>
          <a:prstGeom prst="roundRect">
            <a:avLst>
              <a:gd name="adj" fmla="val 2778"/>
            </a:avLst>
          </a:prstGeom>
          <a:solidFill>
            <a:srgbClr val="3A2846"/>
          </a:solidFill>
          <a:ln w="12700">
            <a:solidFill>
              <a:srgbClr val="6E5A7A"/>
            </a:solidFill>
            <a:prstDash val="solid"/>
          </a:ln>
        </p:spPr>
      </p:sp>
      <p:sp>
        <p:nvSpPr>
          <p:cNvPr id="5" name="Shape 3"/>
          <p:cNvSpPr/>
          <p:nvPr/>
        </p:nvSpPr>
        <p:spPr>
          <a:xfrm>
            <a:off x="4206240" y="2377440"/>
            <a:ext cx="731520" cy="731520"/>
          </a:xfrm>
          <a:prstGeom prst="ellipse">
            <a:avLst/>
          </a:prstGeom>
          <a:solidFill>
            <a:srgbClr val="B4D000"/>
          </a:solidFill>
          <a:ln w="12700">
            <a:solidFill>
              <a:srgbClr val="B4D000"/>
            </a:solidFill>
            <a:prstDash val="solid"/>
          </a:ln>
        </p:spPr>
      </p:sp>
      <p:pic>
        <p:nvPicPr>
          <p:cNvPr id="6" name="Image 0" descr="preencoded.png">    </p:cNvPr>
          <p:cNvPicPr>
            <a:picLocks noChangeAspect="1"/>
          </p:cNvPicPr>
          <p:nvPr/>
        </p:nvPicPr>
        <p:blipFill>
          <a:blip r:embed="rId1"/>
          <a:stretch>
            <a:fillRect/>
          </a:stretch>
        </p:blipFill>
        <p:spPr>
          <a:xfrm>
            <a:off x="4398264" y="2569464"/>
            <a:ext cx="347472" cy="347472"/>
          </a:xfrm>
          <a:prstGeom prst="rect">
            <a:avLst/>
          </a:prstGeom>
        </p:spPr>
      </p:pic>
      <p:sp>
        <p:nvSpPr>
          <p:cNvPr id="7" name="Text 4"/>
          <p:cNvSpPr txBox="1"/>
          <p:nvPr/>
        </p:nvSpPr>
        <p:spPr>
          <a:xfrm>
            <a:off x="1645920" y="3200400"/>
            <a:ext cx="585216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Recorded demo goes here</a:t>
            </a:r>
            <a:endParaRPr lang="en-US" sz="1400" dirty="0"/>
          </a:p>
        </p:txBody>
      </p:sp>
      <p:sp>
        <p:nvSpPr>
          <p:cNvPr id="8" name="Text 5"/>
          <p:cNvSpPr txBox="1"/>
          <p:nvPr/>
        </p:nvSpPr>
        <p:spPr>
          <a:xfrm>
            <a:off x="1645920" y="3502152"/>
            <a:ext cx="5852160" cy="274320"/>
          </a:xfrm>
          <a:prstGeom prst="rect">
            <a:avLst/>
          </a:prstGeom>
          <a:noFill/>
          <a:ln/>
        </p:spPr>
        <p:txBody>
          <a:bodyPr wrap="square" lIns="0" tIns="0" rIns="0" bIns="0" rtlCol="0" anchor="ctr"/>
          <a:lstStyle/>
          <a:p>
            <a:pPr algn="ctr" indent="0" marL="0">
              <a:buNone/>
            </a:pPr>
            <a:r>
              <a:rPr lang="en-US" sz="1000" dirty="0">
                <a:solidFill>
                  <a:srgbClr val="CFC5D3"/>
                </a:solidFill>
                <a:latin typeface="Calibri" pitchFamily="34" charset="0"/>
                <a:ea typeface="Calibri" pitchFamily="34" charset="-122"/>
                <a:cs typeface="Calibri" pitchFamily="34" charset="-120"/>
              </a:rPr>
              <a:t>Insert &gt; Video &gt; This Device, then delete this frame</a:t>
            </a:r>
            <a:endParaRPr lang="en-US" sz="1000" dirty="0"/>
          </a:p>
        </p:txBody>
      </p:sp>
      <p:sp>
        <p:nvSpPr>
          <p:cNvPr id="9" name="Text 6"/>
          <p:cNvSpPr txBox="1"/>
          <p:nvPr/>
        </p:nvSpPr>
        <p:spPr>
          <a:xfrm>
            <a:off x="868680" y="4645152"/>
            <a:ext cx="1005840" cy="274320"/>
          </a:xfrm>
          <a:prstGeom prst="rect">
            <a:avLst/>
          </a:prstGeom>
          <a:noFill/>
          <a:ln/>
        </p:spPr>
        <p:txBody>
          <a:bodyPr wrap="square" lIns="0" tIns="0" rIns="0" bIns="0" rtlCol="0" anchor="ctr"/>
          <a:lstStyle/>
          <a:p>
            <a:pPr algn="ctr" indent="0" marL="0">
              <a:buNone/>
            </a:pPr>
            <a:r>
              <a:rPr lang="en-US" sz="1100" b="1" dirty="0">
                <a:solidFill>
                  <a:srgbClr val="B4D000"/>
                </a:solidFill>
                <a:latin typeface="Calibri" pitchFamily="34" charset="0"/>
                <a:ea typeface="Calibri" pitchFamily="34" charset="-122"/>
                <a:cs typeface="Calibri" pitchFamily="34" charset="-120"/>
              </a:rPr>
              <a:t>Export</a:t>
            </a:r>
            <a:endParaRPr lang="en-US" sz="1100" dirty="0"/>
          </a:p>
        </p:txBody>
      </p:sp>
      <p:sp>
        <p:nvSpPr>
          <p:cNvPr id="10" name="Text 7"/>
          <p:cNvSpPr txBox="1"/>
          <p:nvPr/>
        </p:nvSpPr>
        <p:spPr>
          <a:xfrm>
            <a:off x="1874520" y="4626864"/>
            <a:ext cx="274320" cy="274320"/>
          </a:xfrm>
          <a:prstGeom prst="rect">
            <a:avLst/>
          </a:prstGeom>
          <a:noFill/>
          <a:ln/>
        </p:spPr>
        <p:txBody>
          <a:bodyPr wrap="square" lIns="0" tIns="0" rIns="0" bIns="0" rtlCol="0" anchor="ctr"/>
          <a:lstStyle/>
          <a:p>
            <a:pPr algn="ctr" indent="0" marL="0">
              <a:buNone/>
            </a:pPr>
            <a:r>
              <a:rPr lang="en-US" sz="1400" dirty="0">
                <a:solidFill>
                  <a:srgbClr val="8E7A9A"/>
                </a:solidFill>
                <a:latin typeface="Calibri" pitchFamily="34" charset="0"/>
                <a:ea typeface="Calibri" pitchFamily="34" charset="-122"/>
                <a:cs typeface="Calibri" pitchFamily="34" charset="-120"/>
              </a:rPr>
              <a:t>›</a:t>
            </a:r>
            <a:endParaRPr lang="en-US" sz="1400" dirty="0"/>
          </a:p>
        </p:txBody>
      </p:sp>
      <p:sp>
        <p:nvSpPr>
          <p:cNvPr id="11" name="Text 8"/>
          <p:cNvSpPr txBox="1"/>
          <p:nvPr/>
        </p:nvSpPr>
        <p:spPr>
          <a:xfrm>
            <a:off x="2148840" y="4645152"/>
            <a:ext cx="1005840" cy="274320"/>
          </a:xfrm>
          <a:prstGeom prst="rect">
            <a:avLst/>
          </a:prstGeom>
          <a:noFill/>
          <a:ln/>
        </p:spPr>
        <p:txBody>
          <a:bodyPr wrap="square" lIns="0" tIns="0" rIns="0" bIns="0" rtlCol="0" anchor="ctr"/>
          <a:lstStyle/>
          <a:p>
            <a:pPr algn="ctr" indent="0" marL="0">
              <a:buNone/>
            </a:pPr>
            <a:r>
              <a:rPr lang="en-US" sz="1100" b="1" dirty="0">
                <a:solidFill>
                  <a:srgbClr val="B4D000"/>
                </a:solidFill>
                <a:latin typeface="Calibri" pitchFamily="34" charset="0"/>
                <a:ea typeface="Calibri" pitchFamily="34" charset="-122"/>
                <a:cs typeface="Calibri" pitchFamily="34" charset="-120"/>
              </a:rPr>
              <a:t>Picker</a:t>
            </a:r>
            <a:endParaRPr lang="en-US" sz="1100" dirty="0"/>
          </a:p>
        </p:txBody>
      </p:sp>
      <p:sp>
        <p:nvSpPr>
          <p:cNvPr id="12" name="Text 9"/>
          <p:cNvSpPr txBox="1"/>
          <p:nvPr/>
        </p:nvSpPr>
        <p:spPr>
          <a:xfrm>
            <a:off x="3154680" y="4626864"/>
            <a:ext cx="274320" cy="274320"/>
          </a:xfrm>
          <a:prstGeom prst="rect">
            <a:avLst/>
          </a:prstGeom>
          <a:noFill/>
          <a:ln/>
        </p:spPr>
        <p:txBody>
          <a:bodyPr wrap="square" lIns="0" tIns="0" rIns="0" bIns="0" rtlCol="0" anchor="ctr"/>
          <a:lstStyle/>
          <a:p>
            <a:pPr algn="ctr" indent="0" marL="0">
              <a:buNone/>
            </a:pPr>
            <a:r>
              <a:rPr lang="en-US" sz="1400" dirty="0">
                <a:solidFill>
                  <a:srgbClr val="8E7A9A"/>
                </a:solidFill>
                <a:latin typeface="Calibri" pitchFamily="34" charset="0"/>
                <a:ea typeface="Calibri" pitchFamily="34" charset="-122"/>
                <a:cs typeface="Calibri" pitchFamily="34" charset="-120"/>
              </a:rPr>
              <a:t>›</a:t>
            </a:r>
            <a:endParaRPr lang="en-US" sz="1400" dirty="0"/>
          </a:p>
        </p:txBody>
      </p:sp>
      <p:sp>
        <p:nvSpPr>
          <p:cNvPr id="13" name="Text 10"/>
          <p:cNvSpPr txBox="1"/>
          <p:nvPr/>
        </p:nvSpPr>
        <p:spPr>
          <a:xfrm>
            <a:off x="3429000" y="4645152"/>
            <a:ext cx="1005840" cy="274320"/>
          </a:xfrm>
          <a:prstGeom prst="rect">
            <a:avLst/>
          </a:prstGeom>
          <a:noFill/>
          <a:ln/>
        </p:spPr>
        <p:txBody>
          <a:bodyPr wrap="square" lIns="0" tIns="0" rIns="0" bIns="0" rtlCol="0" anchor="ctr"/>
          <a:lstStyle/>
          <a:p>
            <a:pPr algn="ctr" indent="0" marL="0">
              <a:buNone/>
            </a:pPr>
            <a:r>
              <a:rPr lang="en-US" sz="1100" b="1" dirty="0">
                <a:solidFill>
                  <a:srgbClr val="B4D000"/>
                </a:solidFill>
                <a:latin typeface="Calibri" pitchFamily="34" charset="0"/>
                <a:ea typeface="Calibri" pitchFamily="34" charset="-122"/>
                <a:cs typeface="Calibri" pitchFamily="34" charset="-120"/>
              </a:rPr>
              <a:t>Offenders</a:t>
            </a:r>
            <a:endParaRPr lang="en-US" sz="1100" dirty="0"/>
          </a:p>
        </p:txBody>
      </p:sp>
      <p:sp>
        <p:nvSpPr>
          <p:cNvPr id="14" name="Text 11"/>
          <p:cNvSpPr txBox="1"/>
          <p:nvPr/>
        </p:nvSpPr>
        <p:spPr>
          <a:xfrm>
            <a:off x="4434840" y="4626864"/>
            <a:ext cx="274320" cy="274320"/>
          </a:xfrm>
          <a:prstGeom prst="rect">
            <a:avLst/>
          </a:prstGeom>
          <a:noFill/>
          <a:ln/>
        </p:spPr>
        <p:txBody>
          <a:bodyPr wrap="square" lIns="0" tIns="0" rIns="0" bIns="0" rtlCol="0" anchor="ctr"/>
          <a:lstStyle/>
          <a:p>
            <a:pPr algn="ctr" indent="0" marL="0">
              <a:buNone/>
            </a:pPr>
            <a:r>
              <a:rPr lang="en-US" sz="1400" dirty="0">
                <a:solidFill>
                  <a:srgbClr val="8E7A9A"/>
                </a:solidFill>
                <a:latin typeface="Calibri" pitchFamily="34" charset="0"/>
                <a:ea typeface="Calibri" pitchFamily="34" charset="-122"/>
                <a:cs typeface="Calibri" pitchFamily="34" charset="-120"/>
              </a:rPr>
              <a:t>›</a:t>
            </a:r>
            <a:endParaRPr lang="en-US" sz="1400" dirty="0"/>
          </a:p>
        </p:txBody>
      </p:sp>
      <p:sp>
        <p:nvSpPr>
          <p:cNvPr id="15" name="Text 12"/>
          <p:cNvSpPr txBox="1"/>
          <p:nvPr/>
        </p:nvSpPr>
        <p:spPr>
          <a:xfrm>
            <a:off x="4709160" y="4645152"/>
            <a:ext cx="1005840" cy="274320"/>
          </a:xfrm>
          <a:prstGeom prst="rect">
            <a:avLst/>
          </a:prstGeom>
          <a:noFill/>
          <a:ln/>
        </p:spPr>
        <p:txBody>
          <a:bodyPr wrap="square" lIns="0" tIns="0" rIns="0" bIns="0" rtlCol="0" anchor="ctr"/>
          <a:lstStyle/>
          <a:p>
            <a:pPr algn="ctr" indent="0" marL="0">
              <a:buNone/>
            </a:pPr>
            <a:r>
              <a:rPr lang="en-US" sz="1100" b="1" dirty="0">
                <a:solidFill>
                  <a:srgbClr val="B4D000"/>
                </a:solidFill>
                <a:latin typeface="Calibri" pitchFamily="34" charset="0"/>
                <a:ea typeface="Calibri" pitchFamily="34" charset="-122"/>
                <a:cs typeface="Calibri" pitchFamily="34" charset="-120"/>
              </a:rPr>
              <a:t>Evidence</a:t>
            </a:r>
            <a:endParaRPr lang="en-US" sz="1100" dirty="0"/>
          </a:p>
        </p:txBody>
      </p:sp>
      <p:sp>
        <p:nvSpPr>
          <p:cNvPr id="16" name="Text 13"/>
          <p:cNvSpPr txBox="1"/>
          <p:nvPr/>
        </p:nvSpPr>
        <p:spPr>
          <a:xfrm>
            <a:off x="5715000" y="4626864"/>
            <a:ext cx="274320" cy="274320"/>
          </a:xfrm>
          <a:prstGeom prst="rect">
            <a:avLst/>
          </a:prstGeom>
          <a:noFill/>
          <a:ln/>
        </p:spPr>
        <p:txBody>
          <a:bodyPr wrap="square" lIns="0" tIns="0" rIns="0" bIns="0" rtlCol="0" anchor="ctr"/>
          <a:lstStyle/>
          <a:p>
            <a:pPr algn="ctr" indent="0" marL="0">
              <a:buNone/>
            </a:pPr>
            <a:r>
              <a:rPr lang="en-US" sz="1400" dirty="0">
                <a:solidFill>
                  <a:srgbClr val="8E7A9A"/>
                </a:solidFill>
                <a:latin typeface="Calibri" pitchFamily="34" charset="0"/>
                <a:ea typeface="Calibri" pitchFamily="34" charset="-122"/>
                <a:cs typeface="Calibri" pitchFamily="34" charset="-120"/>
              </a:rPr>
              <a:t>›</a:t>
            </a:r>
            <a:endParaRPr lang="en-US" sz="1400" dirty="0"/>
          </a:p>
        </p:txBody>
      </p:sp>
      <p:sp>
        <p:nvSpPr>
          <p:cNvPr id="17" name="Text 14"/>
          <p:cNvSpPr txBox="1"/>
          <p:nvPr/>
        </p:nvSpPr>
        <p:spPr>
          <a:xfrm>
            <a:off x="5989320" y="4645152"/>
            <a:ext cx="1005840" cy="274320"/>
          </a:xfrm>
          <a:prstGeom prst="rect">
            <a:avLst/>
          </a:prstGeom>
          <a:noFill/>
          <a:ln/>
        </p:spPr>
        <p:txBody>
          <a:bodyPr wrap="square" lIns="0" tIns="0" rIns="0" bIns="0" rtlCol="0" anchor="ctr"/>
          <a:lstStyle/>
          <a:p>
            <a:pPr algn="ctr" indent="0" marL="0">
              <a:buNone/>
            </a:pPr>
            <a:r>
              <a:rPr lang="en-US" sz="1100" b="1" dirty="0">
                <a:solidFill>
                  <a:srgbClr val="B4D000"/>
                </a:solidFill>
                <a:latin typeface="Calibri" pitchFamily="34" charset="0"/>
                <a:ea typeface="Calibri" pitchFamily="34" charset="-122"/>
                <a:cs typeface="Calibri" pitchFamily="34" charset="-120"/>
              </a:rPr>
              <a:t>Drafts</a:t>
            </a:r>
            <a:endParaRPr lang="en-US" sz="1100" dirty="0"/>
          </a:p>
        </p:txBody>
      </p:sp>
      <p:sp>
        <p:nvSpPr>
          <p:cNvPr id="18" name="Text 15"/>
          <p:cNvSpPr txBox="1"/>
          <p:nvPr/>
        </p:nvSpPr>
        <p:spPr>
          <a:xfrm>
            <a:off x="6995160" y="4626864"/>
            <a:ext cx="274320" cy="274320"/>
          </a:xfrm>
          <a:prstGeom prst="rect">
            <a:avLst/>
          </a:prstGeom>
          <a:noFill/>
          <a:ln/>
        </p:spPr>
        <p:txBody>
          <a:bodyPr wrap="square" lIns="0" tIns="0" rIns="0" bIns="0" rtlCol="0" anchor="ctr"/>
          <a:lstStyle/>
          <a:p>
            <a:pPr algn="ctr" indent="0" marL="0">
              <a:buNone/>
            </a:pPr>
            <a:r>
              <a:rPr lang="en-US" sz="1400" dirty="0">
                <a:solidFill>
                  <a:srgbClr val="8E7A9A"/>
                </a:solidFill>
                <a:latin typeface="Calibri" pitchFamily="34" charset="0"/>
                <a:ea typeface="Calibri" pitchFamily="34" charset="-122"/>
                <a:cs typeface="Calibri" pitchFamily="34" charset="-120"/>
              </a:rPr>
              <a:t>›</a:t>
            </a:r>
            <a:endParaRPr lang="en-US" sz="1400" dirty="0"/>
          </a:p>
        </p:txBody>
      </p:sp>
      <p:sp>
        <p:nvSpPr>
          <p:cNvPr id="19" name="Text 16"/>
          <p:cNvSpPr txBox="1"/>
          <p:nvPr/>
        </p:nvSpPr>
        <p:spPr>
          <a:xfrm>
            <a:off x="7269480" y="4645152"/>
            <a:ext cx="1005840" cy="274320"/>
          </a:xfrm>
          <a:prstGeom prst="rect">
            <a:avLst/>
          </a:prstGeom>
          <a:noFill/>
          <a:ln/>
        </p:spPr>
        <p:txBody>
          <a:bodyPr wrap="square" lIns="0" tIns="0" rIns="0" bIns="0" rtlCol="0" anchor="ctr"/>
          <a:lstStyle/>
          <a:p>
            <a:pPr algn="ctr" indent="0" marL="0">
              <a:buNone/>
            </a:pPr>
            <a:r>
              <a:rPr lang="en-US" sz="1100" b="1" dirty="0">
                <a:solidFill>
                  <a:srgbClr val="B4D000"/>
                </a:solidFill>
                <a:latin typeface="Calibri" pitchFamily="34" charset="0"/>
                <a:ea typeface="Calibri" pitchFamily="34" charset="-122"/>
                <a:cs typeface="Calibri" pitchFamily="34" charset="-120"/>
              </a:rPr>
              <a:t>Jira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02920"/>
          </a:xfrm>
          <a:prstGeom prst="rect">
            <a:avLst/>
          </a:prstGeom>
          <a:noFill/>
          <a:ln/>
        </p:spPr>
        <p:txBody>
          <a:bodyPr wrap="square" lIns="0" tIns="0" rIns="0" bIns="0" rtlCol="0" anchor="ctr"/>
          <a:lstStyle/>
          <a:p>
            <a:pPr indent="0" marL="0">
              <a:buNone/>
            </a:pPr>
            <a:r>
              <a:rPr lang="en-US" sz="2800" b="1" dirty="0">
                <a:solidFill>
                  <a:srgbClr val="2A1B34"/>
                </a:solidFill>
                <a:latin typeface="Calibri" pitchFamily="34" charset="0"/>
                <a:ea typeface="Calibri" pitchFamily="34" charset="-122"/>
                <a:cs typeface="Calibri" pitchFamily="34" charset="-120"/>
              </a:rPr>
              <a:t>Scaling it across teams</a:t>
            </a:r>
            <a:endParaRPr lang="en-US" sz="2800" dirty="0"/>
          </a:p>
        </p:txBody>
      </p:sp>
      <p:sp>
        <p:nvSpPr>
          <p:cNvPr id="3" name="Text 1"/>
          <p:cNvSpPr txBox="1"/>
          <p:nvPr/>
        </p:nvSpPr>
        <p:spPr>
          <a:xfrm>
            <a:off x="457200" y="822960"/>
            <a:ext cx="8229600" cy="27432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Same tool, same skill, per-team rule packs. Real cross-team numbers by the end of the pilot.</a:t>
            </a:r>
            <a:endParaRPr lang="en-US" sz="1200" dirty="0"/>
          </a:p>
        </p:txBody>
      </p:sp>
      <p:sp>
        <p:nvSpPr>
          <p:cNvPr id="4" name="Shape 2"/>
          <p:cNvSpPr/>
          <p:nvPr/>
        </p:nvSpPr>
        <p:spPr>
          <a:xfrm>
            <a:off x="457200" y="1280160"/>
            <a:ext cx="2651760" cy="2377440"/>
          </a:xfrm>
          <a:prstGeom prst="roundRect">
            <a:avLst>
              <a:gd name="adj" fmla="val 3077"/>
            </a:avLst>
          </a:prstGeom>
          <a:solidFill>
            <a:srgbClr val="FFFFFF"/>
          </a:solidFill>
          <a:ln w="9525">
            <a:solidFill>
              <a:srgbClr val="E2E2E2"/>
            </a:solidFill>
            <a:prstDash val="solid"/>
          </a:ln>
          <a:effectLst>
            <a:outerShdw sx="100000" sy="100000" kx="0" ky="0" algn="bl" rotWithShape="0" blurRad="76200" dist="12700" dir="5400000">
              <a:srgbClr val="000000">
                <a:alpha val="8000"/>
              </a:srgbClr>
            </a:outerShdw>
          </a:effectLst>
        </p:spPr>
      </p:sp>
      <p:sp>
        <p:nvSpPr>
          <p:cNvPr id="5" name="Shape 3"/>
          <p:cNvSpPr/>
          <p:nvPr/>
        </p:nvSpPr>
        <p:spPr>
          <a:xfrm>
            <a:off x="658368" y="1481328"/>
            <a:ext cx="384048" cy="384048"/>
          </a:xfrm>
          <a:prstGeom prst="ellipse">
            <a:avLst/>
          </a:prstGeom>
          <a:solidFill>
            <a:srgbClr val="5C2D5E"/>
          </a:solidFill>
          <a:ln w="12700">
            <a:solidFill>
              <a:srgbClr val="5C2D5E"/>
            </a:solidFill>
            <a:prstDash val="solid"/>
          </a:ln>
        </p:spPr>
      </p:sp>
      <p:pic>
        <p:nvPicPr>
          <p:cNvPr id="6" name="Image 0" descr="preencoded.png">    </p:cNvPr>
          <p:cNvPicPr>
            <a:picLocks noChangeAspect="1"/>
          </p:cNvPicPr>
          <p:nvPr/>
        </p:nvPicPr>
        <p:blipFill>
          <a:blip r:embed="rId1"/>
          <a:stretch>
            <a:fillRect/>
          </a:stretch>
        </p:blipFill>
        <p:spPr>
          <a:xfrm>
            <a:off x="740664" y="1563624"/>
            <a:ext cx="219456" cy="219456"/>
          </a:xfrm>
          <a:prstGeom prst="rect">
            <a:avLst/>
          </a:prstGeom>
        </p:spPr>
      </p:pic>
      <p:sp>
        <p:nvSpPr>
          <p:cNvPr id="7" name="Text 4"/>
          <p:cNvSpPr txBox="1"/>
          <p:nvPr/>
        </p:nvSpPr>
        <p:spPr>
          <a:xfrm>
            <a:off x="1152144" y="1481328"/>
            <a:ext cx="1828800" cy="384048"/>
          </a:xfrm>
          <a:prstGeom prst="rect">
            <a:avLst/>
          </a:prstGeom>
          <a:noFill/>
          <a:ln/>
        </p:spPr>
        <p:txBody>
          <a:bodyPr wrap="square" lIns="0" tIns="0" rIns="0" bIns="0" rtlCol="0" anchor="ctr"/>
          <a:lstStyle/>
          <a:p>
            <a:pPr indent="0" marL="0">
              <a:buNone/>
            </a:pPr>
            <a:r>
              <a:rPr lang="en-US" sz="1500" b="1" dirty="0">
                <a:solidFill>
                  <a:srgbClr val="2A1B34"/>
                </a:solidFill>
                <a:latin typeface="Calibri" pitchFamily="34" charset="0"/>
                <a:ea typeface="Calibri" pitchFamily="34" charset="-122"/>
                <a:cs typeface="Calibri" pitchFamily="34" charset="-120"/>
              </a:rPr>
              <a:t>Rollout</a:t>
            </a:r>
            <a:endParaRPr lang="en-US" sz="1500" dirty="0"/>
          </a:p>
        </p:txBody>
      </p:sp>
      <p:sp>
        <p:nvSpPr>
          <p:cNvPr id="8" name="Text 5"/>
          <p:cNvSpPr txBox="1"/>
          <p:nvPr/>
        </p:nvSpPr>
        <p:spPr>
          <a:xfrm>
            <a:off x="640080" y="1993392"/>
            <a:ext cx="2286000" cy="155448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Tool + skill on one Confluence page, versioned</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Zero infrastructure, zero vendor spend</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Each team tunes a rule pack for its estate</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3 pilot teams over 6 weeks, one working session each</a:t>
            </a:r>
            <a:endParaRPr lang="en-US" sz="1150" dirty="0"/>
          </a:p>
        </p:txBody>
      </p:sp>
      <p:sp>
        <p:nvSpPr>
          <p:cNvPr id="9" name="Shape 6"/>
          <p:cNvSpPr/>
          <p:nvPr/>
        </p:nvSpPr>
        <p:spPr>
          <a:xfrm>
            <a:off x="3246120" y="1280160"/>
            <a:ext cx="2651760" cy="2377440"/>
          </a:xfrm>
          <a:prstGeom prst="roundRect">
            <a:avLst>
              <a:gd name="adj" fmla="val 3077"/>
            </a:avLst>
          </a:prstGeom>
          <a:solidFill>
            <a:srgbClr val="FFFFFF"/>
          </a:solidFill>
          <a:ln w="9525">
            <a:solidFill>
              <a:srgbClr val="E2E2E2"/>
            </a:solidFill>
            <a:prstDash val="solid"/>
          </a:ln>
          <a:effectLst>
            <a:outerShdw sx="100000" sy="100000" kx="0" ky="0" algn="bl" rotWithShape="0" blurRad="76200" dist="12700" dir="5400000">
              <a:srgbClr val="000000">
                <a:alpha val="8000"/>
              </a:srgbClr>
            </a:outerShdw>
          </a:effectLst>
        </p:spPr>
      </p:sp>
      <p:sp>
        <p:nvSpPr>
          <p:cNvPr id="10" name="Shape 7"/>
          <p:cNvSpPr/>
          <p:nvPr/>
        </p:nvSpPr>
        <p:spPr>
          <a:xfrm>
            <a:off x="3447288" y="1481328"/>
            <a:ext cx="384048" cy="384048"/>
          </a:xfrm>
          <a:prstGeom prst="ellipse">
            <a:avLst/>
          </a:prstGeom>
          <a:solidFill>
            <a:srgbClr val="5C2D5E"/>
          </a:solidFill>
          <a:ln w="12700">
            <a:solidFill>
              <a:srgbClr val="5C2D5E"/>
            </a:solidFill>
            <a:prstDash val="solid"/>
          </a:ln>
        </p:spPr>
      </p:sp>
      <p:pic>
        <p:nvPicPr>
          <p:cNvPr id="11" name="Image 1" descr="preencoded.png">    </p:cNvPr>
          <p:cNvPicPr>
            <a:picLocks noChangeAspect="1"/>
          </p:cNvPicPr>
          <p:nvPr/>
        </p:nvPicPr>
        <p:blipFill>
          <a:blip r:embed="rId2"/>
          <a:stretch>
            <a:fillRect/>
          </a:stretch>
        </p:blipFill>
        <p:spPr>
          <a:xfrm>
            <a:off x="3529584" y="1563624"/>
            <a:ext cx="219456" cy="219456"/>
          </a:xfrm>
          <a:prstGeom prst="rect">
            <a:avLst/>
          </a:prstGeom>
        </p:spPr>
      </p:pic>
      <p:sp>
        <p:nvSpPr>
          <p:cNvPr id="12" name="Text 8"/>
          <p:cNvSpPr txBox="1"/>
          <p:nvPr/>
        </p:nvSpPr>
        <p:spPr>
          <a:xfrm>
            <a:off x="3941064" y="1481328"/>
            <a:ext cx="1828800" cy="384048"/>
          </a:xfrm>
          <a:prstGeom prst="rect">
            <a:avLst/>
          </a:prstGeom>
          <a:noFill/>
          <a:ln/>
        </p:spPr>
        <p:txBody>
          <a:bodyPr wrap="square" lIns="0" tIns="0" rIns="0" bIns="0" rtlCol="0" anchor="ctr"/>
          <a:lstStyle/>
          <a:p>
            <a:pPr indent="0" marL="0">
              <a:buNone/>
            </a:pPr>
            <a:r>
              <a:rPr lang="en-US" sz="1500" b="1" dirty="0">
                <a:solidFill>
                  <a:srgbClr val="2A1B34"/>
                </a:solidFill>
                <a:latin typeface="Calibri" pitchFamily="34" charset="0"/>
                <a:ea typeface="Calibri" pitchFamily="34" charset="-122"/>
                <a:cs typeface="Calibri" pitchFamily="34" charset="-120"/>
              </a:rPr>
              <a:t>What you will see</a:t>
            </a:r>
            <a:endParaRPr lang="en-US" sz="1500" dirty="0"/>
          </a:p>
        </p:txBody>
      </p:sp>
      <p:sp>
        <p:nvSpPr>
          <p:cNvPr id="13" name="Text 9"/>
          <p:cNvSpPr txBox="1"/>
          <p:nvPr/>
        </p:nvSpPr>
        <p:spPr>
          <a:xfrm>
            <a:off x="3429000" y="1993392"/>
            <a:ext cx="2286000" cy="155448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Incidents by category and hours per month</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Tickets raised, tickets fixed, hours reclaimed</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Business and technical hours, separately</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Categories shrinking when next quarter's export is re-run</a:t>
            </a:r>
            <a:endParaRPr lang="en-US" sz="1150" dirty="0"/>
          </a:p>
        </p:txBody>
      </p:sp>
      <p:sp>
        <p:nvSpPr>
          <p:cNvPr id="14" name="Shape 10"/>
          <p:cNvSpPr/>
          <p:nvPr/>
        </p:nvSpPr>
        <p:spPr>
          <a:xfrm>
            <a:off x="6035040" y="1280160"/>
            <a:ext cx="2651760" cy="2377440"/>
          </a:xfrm>
          <a:prstGeom prst="roundRect">
            <a:avLst>
              <a:gd name="adj" fmla="val 3077"/>
            </a:avLst>
          </a:prstGeom>
          <a:solidFill>
            <a:srgbClr val="FFFFFF"/>
          </a:solidFill>
          <a:ln w="9525">
            <a:solidFill>
              <a:srgbClr val="E2E2E2"/>
            </a:solidFill>
            <a:prstDash val="solid"/>
          </a:ln>
          <a:effectLst>
            <a:outerShdw sx="100000" sy="100000" kx="0" ky="0" algn="bl" rotWithShape="0" blurRad="76200" dist="12700" dir="5400000">
              <a:srgbClr val="000000">
                <a:alpha val="8000"/>
              </a:srgbClr>
            </a:outerShdw>
          </a:effectLst>
        </p:spPr>
      </p:sp>
      <p:sp>
        <p:nvSpPr>
          <p:cNvPr id="15" name="Shape 11"/>
          <p:cNvSpPr/>
          <p:nvPr/>
        </p:nvSpPr>
        <p:spPr>
          <a:xfrm>
            <a:off x="6236208" y="1481328"/>
            <a:ext cx="384048" cy="384048"/>
          </a:xfrm>
          <a:prstGeom prst="ellipse">
            <a:avLst/>
          </a:prstGeom>
          <a:solidFill>
            <a:srgbClr val="5C2D5E"/>
          </a:solidFill>
          <a:ln w="12700">
            <a:solidFill>
              <a:srgbClr val="5C2D5E"/>
            </a:solidFill>
            <a:prstDash val="solid"/>
          </a:ln>
        </p:spPr>
      </p:sp>
      <p:pic>
        <p:nvPicPr>
          <p:cNvPr id="16" name="Image 2" descr="preencoded.png">    </p:cNvPr>
          <p:cNvPicPr>
            <a:picLocks noChangeAspect="1"/>
          </p:cNvPicPr>
          <p:nvPr/>
        </p:nvPicPr>
        <p:blipFill>
          <a:blip r:embed="rId3"/>
          <a:stretch>
            <a:fillRect/>
          </a:stretch>
        </p:blipFill>
        <p:spPr>
          <a:xfrm>
            <a:off x="6318504" y="1563624"/>
            <a:ext cx="219456" cy="219456"/>
          </a:xfrm>
          <a:prstGeom prst="rect">
            <a:avLst/>
          </a:prstGeom>
        </p:spPr>
      </p:pic>
      <p:sp>
        <p:nvSpPr>
          <p:cNvPr id="17" name="Text 12"/>
          <p:cNvSpPr txBox="1"/>
          <p:nvPr/>
        </p:nvSpPr>
        <p:spPr>
          <a:xfrm>
            <a:off x="6729984" y="1481328"/>
            <a:ext cx="1828800" cy="384048"/>
          </a:xfrm>
          <a:prstGeom prst="rect">
            <a:avLst/>
          </a:prstGeom>
          <a:noFill/>
          <a:ln/>
        </p:spPr>
        <p:txBody>
          <a:bodyPr wrap="square" lIns="0" tIns="0" rIns="0" bIns="0" rtlCol="0" anchor="ctr"/>
          <a:lstStyle/>
          <a:p>
            <a:pPr indent="0" marL="0">
              <a:buNone/>
            </a:pPr>
            <a:r>
              <a:rPr lang="en-US" sz="1500" b="1" dirty="0">
                <a:solidFill>
                  <a:srgbClr val="2A1B34"/>
                </a:solidFill>
                <a:latin typeface="Calibri" pitchFamily="34" charset="0"/>
                <a:ea typeface="Calibri" pitchFamily="34" charset="-122"/>
                <a:cs typeface="Calibri" pitchFamily="34" charset="-120"/>
              </a:rPr>
              <a:t>The ask</a:t>
            </a:r>
            <a:endParaRPr lang="en-US" sz="1500" dirty="0"/>
          </a:p>
        </p:txBody>
      </p:sp>
      <p:sp>
        <p:nvSpPr>
          <p:cNvPr id="18" name="Text 13"/>
          <p:cNvSpPr txBox="1"/>
          <p:nvPr/>
        </p:nvSpPr>
        <p:spPr>
          <a:xfrm>
            <a:off x="6217920" y="1993392"/>
            <a:ext cx="2286000" cy="155448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Sponsor pilot team time: half a day per team</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One Jira label convention across teams</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Dynatrace access for pilot teams (MCP or dtctl)</a:t>
            </a:r>
            <a:endParaRPr lang="en-US" sz="1150" dirty="0"/>
          </a:p>
          <a:p>
            <a:pPr marL="152400" indent="-152400">
              <a:spcAft>
                <a:spcPts val="600"/>
              </a:spcAft>
              <a:buSzPct val="100000"/>
              <a:buChar char="•"/>
            </a:pPr>
            <a:r>
              <a:rPr lang="en-US" sz="1150" dirty="0">
                <a:solidFill>
                  <a:srgbClr val="1C1C1C"/>
                </a:solidFill>
                <a:latin typeface="Calibri" pitchFamily="34" charset="0"/>
                <a:ea typeface="Calibri" pitchFamily="34" charset="-122"/>
                <a:cs typeface="Calibri" pitchFamily="34" charset="-120"/>
              </a:rPr>
              <a:t>A toil slot in the ops review to track the backlog</a:t>
            </a:r>
            <a:endParaRPr lang="en-US" sz="1150" dirty="0"/>
          </a:p>
        </p:txBody>
      </p:sp>
      <p:sp>
        <p:nvSpPr>
          <p:cNvPr id="19" name="Shape 14"/>
          <p:cNvSpPr/>
          <p:nvPr/>
        </p:nvSpPr>
        <p:spPr>
          <a:xfrm>
            <a:off x="822960" y="4169664"/>
            <a:ext cx="7498080" cy="0"/>
          </a:xfrm>
          <a:prstGeom prst="line">
            <a:avLst/>
          </a:prstGeom>
          <a:noFill/>
          <a:ln w="15875">
            <a:solidFill>
              <a:srgbClr val="E2E2E2"/>
            </a:solidFill>
            <a:prstDash val="solid"/>
          </a:ln>
        </p:spPr>
      </p:sp>
      <p:sp>
        <p:nvSpPr>
          <p:cNvPr id="20" name="Shape 15"/>
          <p:cNvSpPr/>
          <p:nvPr/>
        </p:nvSpPr>
        <p:spPr>
          <a:xfrm>
            <a:off x="722376" y="4069080"/>
            <a:ext cx="201168" cy="201168"/>
          </a:xfrm>
          <a:prstGeom prst="ellipse">
            <a:avLst/>
          </a:prstGeom>
          <a:solidFill>
            <a:srgbClr val="B4D000"/>
          </a:solidFill>
          <a:ln w="19050">
            <a:solidFill>
              <a:srgbClr val="FFFFFF"/>
            </a:solidFill>
            <a:prstDash val="solid"/>
          </a:ln>
        </p:spPr>
      </p:sp>
      <p:sp>
        <p:nvSpPr>
          <p:cNvPr id="21" name="Text 16"/>
          <p:cNvSpPr txBox="1"/>
          <p:nvPr/>
        </p:nvSpPr>
        <p:spPr>
          <a:xfrm>
            <a:off x="457200" y="4343400"/>
            <a:ext cx="2560320" cy="237744"/>
          </a:xfrm>
          <a:prstGeom prst="rect">
            <a:avLst/>
          </a:prstGeom>
          <a:noFill/>
          <a:ln/>
        </p:spPr>
        <p:txBody>
          <a:bodyPr wrap="square" lIns="0" tIns="0" rIns="0" bIns="0" rtlCol="0" anchor="ctr"/>
          <a:lstStyle/>
          <a:p>
            <a:pPr algn="l" indent="0" marL="0">
              <a:buNone/>
            </a:pPr>
            <a:r>
              <a:rPr lang="en-US" sz="1100" b="1" dirty="0">
                <a:solidFill>
                  <a:srgbClr val="2A1B34"/>
                </a:solidFill>
                <a:latin typeface="Calibri" pitchFamily="34" charset="0"/>
                <a:ea typeface="Calibri" pitchFamily="34" charset="-122"/>
                <a:cs typeface="Calibri" pitchFamily="34" charset="-120"/>
              </a:rPr>
              <a:t>Now</a:t>
            </a:r>
            <a:endParaRPr lang="en-US" sz="1100" dirty="0"/>
          </a:p>
        </p:txBody>
      </p:sp>
      <p:sp>
        <p:nvSpPr>
          <p:cNvPr id="22" name="Text 17"/>
          <p:cNvSpPr txBox="1"/>
          <p:nvPr/>
        </p:nvSpPr>
        <p:spPr>
          <a:xfrm>
            <a:off x="457200" y="4572000"/>
            <a:ext cx="2560320" cy="237744"/>
          </a:xfrm>
          <a:prstGeom prst="rect">
            <a:avLst/>
          </a:prstGeom>
          <a:noFill/>
          <a:ln/>
        </p:spPr>
        <p:txBody>
          <a:bodyPr wrap="square" lIns="0" tIns="0" rIns="0" bIns="0" rtlCol="0" anchor="ctr"/>
          <a:lstStyle/>
          <a:p>
            <a:pPr algn="l" indent="0" marL="0">
              <a:buNone/>
            </a:pPr>
            <a:r>
              <a:rPr lang="en-US" sz="1000" dirty="0">
                <a:solidFill>
                  <a:srgbClr val="6B6B6B"/>
                </a:solidFill>
                <a:latin typeface="Calibri" pitchFamily="34" charset="0"/>
                <a:ea typeface="Calibri" pitchFamily="34" charset="-122"/>
                <a:cs typeface="Calibri" pitchFamily="34" charset="-120"/>
              </a:rPr>
              <a:t>One team, real numbers</a:t>
            </a:r>
            <a:endParaRPr lang="en-US" sz="1000" dirty="0"/>
          </a:p>
        </p:txBody>
      </p:sp>
      <p:sp>
        <p:nvSpPr>
          <p:cNvPr id="23" name="Shape 18"/>
          <p:cNvSpPr/>
          <p:nvPr/>
        </p:nvSpPr>
        <p:spPr>
          <a:xfrm>
            <a:off x="4471416" y="4069080"/>
            <a:ext cx="201168" cy="201168"/>
          </a:xfrm>
          <a:prstGeom prst="ellipse">
            <a:avLst/>
          </a:prstGeom>
          <a:solidFill>
            <a:srgbClr val="5C2D5E"/>
          </a:solidFill>
          <a:ln w="19050">
            <a:solidFill>
              <a:srgbClr val="FFFFFF"/>
            </a:solidFill>
            <a:prstDash val="solid"/>
          </a:ln>
        </p:spPr>
      </p:sp>
      <p:sp>
        <p:nvSpPr>
          <p:cNvPr id="24" name="Text 19"/>
          <p:cNvSpPr txBox="1"/>
          <p:nvPr/>
        </p:nvSpPr>
        <p:spPr>
          <a:xfrm>
            <a:off x="3291840" y="4343400"/>
            <a:ext cx="2560320" cy="237744"/>
          </a:xfrm>
          <a:prstGeom prst="rect">
            <a:avLst/>
          </a:prstGeom>
          <a:noFill/>
          <a:ln/>
        </p:spPr>
        <p:txBody>
          <a:bodyPr wrap="square" lIns="0" tIns="0" rIns="0" bIns="0" rtlCol="0" anchor="ctr"/>
          <a:lstStyle/>
          <a:p>
            <a:pPr algn="ctr" indent="0" marL="0">
              <a:buNone/>
            </a:pPr>
            <a:r>
              <a:rPr lang="en-US" sz="1100" b="1" dirty="0">
                <a:solidFill>
                  <a:srgbClr val="2A1B34"/>
                </a:solidFill>
                <a:latin typeface="Calibri" pitchFamily="34" charset="0"/>
                <a:ea typeface="Calibri" pitchFamily="34" charset="-122"/>
                <a:cs typeface="Calibri" pitchFamily="34" charset="-120"/>
              </a:rPr>
              <a:t>+6 weeks</a:t>
            </a:r>
            <a:endParaRPr lang="en-US" sz="1100" dirty="0"/>
          </a:p>
        </p:txBody>
      </p:sp>
      <p:sp>
        <p:nvSpPr>
          <p:cNvPr id="25" name="Text 20"/>
          <p:cNvSpPr txBox="1"/>
          <p:nvPr/>
        </p:nvSpPr>
        <p:spPr>
          <a:xfrm>
            <a:off x="3291840" y="4572000"/>
            <a:ext cx="2560320" cy="237744"/>
          </a:xfrm>
          <a:prstGeom prst="rect">
            <a:avLst/>
          </a:prstGeom>
          <a:noFill/>
          <a:ln/>
        </p:spPr>
        <p:txBody>
          <a:bodyPr wrap="square" lIns="0" tIns="0" rIns="0" bIns="0" rtlCol="0" anchor="ctr"/>
          <a:lstStyle/>
          <a:p>
            <a:pPr algn="ctr" indent="0" marL="0">
              <a:buNone/>
            </a:pPr>
            <a:r>
              <a:rPr lang="en-US" sz="1000" dirty="0">
                <a:solidFill>
                  <a:srgbClr val="6B6B6B"/>
                </a:solidFill>
                <a:latin typeface="Calibri" pitchFamily="34" charset="0"/>
                <a:ea typeface="Calibri" pitchFamily="34" charset="-122"/>
                <a:cs typeface="Calibri" pitchFamily="34" charset="-120"/>
              </a:rPr>
              <a:t>Three pilot teams, cross-team numbers</a:t>
            </a:r>
            <a:endParaRPr lang="en-US" sz="1000" dirty="0"/>
          </a:p>
        </p:txBody>
      </p:sp>
      <p:sp>
        <p:nvSpPr>
          <p:cNvPr id="26" name="Shape 21"/>
          <p:cNvSpPr/>
          <p:nvPr/>
        </p:nvSpPr>
        <p:spPr>
          <a:xfrm>
            <a:off x="8220456" y="4069080"/>
            <a:ext cx="201168" cy="201168"/>
          </a:xfrm>
          <a:prstGeom prst="ellipse">
            <a:avLst/>
          </a:prstGeom>
          <a:solidFill>
            <a:srgbClr val="5C2D5E"/>
          </a:solidFill>
          <a:ln w="19050">
            <a:solidFill>
              <a:srgbClr val="FFFFFF"/>
            </a:solidFill>
            <a:prstDash val="solid"/>
          </a:ln>
        </p:spPr>
      </p:sp>
      <p:sp>
        <p:nvSpPr>
          <p:cNvPr id="27" name="Text 22"/>
          <p:cNvSpPr txBox="1"/>
          <p:nvPr/>
        </p:nvSpPr>
        <p:spPr>
          <a:xfrm>
            <a:off x="6126480" y="4343400"/>
            <a:ext cx="2560320" cy="237744"/>
          </a:xfrm>
          <a:prstGeom prst="rect">
            <a:avLst/>
          </a:prstGeom>
          <a:noFill/>
          <a:ln/>
        </p:spPr>
        <p:txBody>
          <a:bodyPr wrap="square" lIns="0" tIns="0" rIns="0" bIns="0" rtlCol="0" anchor="ctr"/>
          <a:lstStyle/>
          <a:p>
            <a:pPr algn="r" indent="0" marL="0">
              <a:buNone/>
            </a:pPr>
            <a:r>
              <a:rPr lang="en-US" sz="1100" b="1" dirty="0">
                <a:solidFill>
                  <a:srgbClr val="2A1B34"/>
                </a:solidFill>
                <a:latin typeface="Calibri" pitchFamily="34" charset="0"/>
                <a:ea typeface="Calibri" pitchFamily="34" charset="-122"/>
                <a:cs typeface="Calibri" pitchFamily="34" charset="-120"/>
              </a:rPr>
              <a:t>Next quarter</a:t>
            </a:r>
            <a:endParaRPr lang="en-US" sz="1100" dirty="0"/>
          </a:p>
        </p:txBody>
      </p:sp>
      <p:sp>
        <p:nvSpPr>
          <p:cNvPr id="28" name="Text 23"/>
          <p:cNvSpPr txBox="1"/>
          <p:nvPr/>
        </p:nvSpPr>
        <p:spPr>
          <a:xfrm>
            <a:off x="6126480" y="4572000"/>
            <a:ext cx="2560320" cy="237744"/>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Re-run exports, measure the drop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 toil pipeline</dc:title>
  <dc:subject>PptxGenJS Presentation</dc:subject>
  <dc:creator>SRE</dc:creator>
  <cp:lastModifiedBy>SRE</cp:lastModifiedBy>
  <cp:revision>1</cp:revision>
  <dcterms:created xsi:type="dcterms:W3CDTF">2026-09-11T12:24:03Z</dcterms:created>
  <dcterms:modified xsi:type="dcterms:W3CDTF">2026-09-11T12:24:03Z</dcterms:modified>
</cp:coreProperties>
</file>